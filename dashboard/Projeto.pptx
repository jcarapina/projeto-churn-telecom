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3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99CC"/>
    <a:srgbClr val="C03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6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overlay val="0"/>
      <c:txPr>
        <a:bodyPr/>
        <a:lstStyle/>
        <a:p>
          <a:pPr>
            <a:defRPr sz="1400">
              <a:latin typeface="Segoe UI" panose="020B0502040204020203" pitchFamily="34" charset="0"/>
              <a:cs typeface="Segoe UI" panose="020B0502040204020203" pitchFamily="34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Recall</c:v>
                </c:pt>
                <c:pt idx="1">
                  <c:v>Precision</c:v>
                </c:pt>
                <c:pt idx="2">
                  <c:v>AUC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0.79144385026737973</c:v>
                </c:pt>
                <c:pt idx="1">
                  <c:v>0.50859106529209619</c:v>
                </c:pt>
                <c:pt idx="2">
                  <c:v>0.83777803611563195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6A-4FCD-904D-9515EAE052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pPr>
            <a:endParaRPr lang="pt-BR"/>
          </a:p>
        </c:txPr>
        <c:crossAx val="-20680273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1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56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34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26736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05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99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08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9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27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6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3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5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74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12" y="2588997"/>
            <a:ext cx="8754037" cy="82687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Previsão de </a:t>
            </a:r>
            <a:r>
              <a:rPr lang="pt-B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Churn</a:t>
            </a:r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em Telecom</a:t>
            </a:r>
            <a:endParaRPr lang="pt-BR" sz="2700" b="1" dirty="0">
              <a:solidFill>
                <a:schemeClr val="tx1">
                  <a:lumMod val="65000"/>
                  <a:lumOff val="3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03D868-A0FA-41AC-9713-A6ADB500CB4B}"/>
              </a:ext>
            </a:extLst>
          </p:cNvPr>
          <p:cNvSpPr txBox="1"/>
          <p:nvPr/>
        </p:nvSpPr>
        <p:spPr>
          <a:xfrm>
            <a:off x="5064076" y="4358026"/>
            <a:ext cx="4402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de Portfólio – Ciência de Dados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F86DB89-5BD6-43C6-9CDA-B274BE825E3A}"/>
              </a:ext>
            </a:extLst>
          </p:cNvPr>
          <p:cNvSpPr txBox="1">
            <a:spLocks/>
          </p:cNvSpPr>
          <p:nvPr/>
        </p:nvSpPr>
        <p:spPr>
          <a:xfrm>
            <a:off x="389963" y="3015562"/>
            <a:ext cx="8754037" cy="8268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700" dirty="0">
                <a:latin typeface="Segoe UI" panose="020B0502040204020203" pitchFamily="34" charset="0"/>
                <a:cs typeface="Segoe UI" panose="020B0502040204020203" pitchFamily="34" charset="0"/>
              </a:rPr>
              <a:t>Do Problema de Negócio à Decisão Estratégica</a:t>
            </a:r>
            <a:endParaRPr lang="pt-BR" sz="27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Gráfico 3" descr="Pesquisa com preenchimento sólido">
            <a:extLst>
              <a:ext uri="{FF2B5EF4-FFF2-40B4-BE49-F238E27FC236}">
                <a16:creationId xmlns:a16="http://schemas.microsoft.com/office/drawing/2014/main" id="{21BDD1ED-CDDC-4527-91B1-5984D5023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6344" y="4335266"/>
            <a:ext cx="353296" cy="353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DD5F75F-A866-4E50-93A8-7A210D2D0F2A}"/>
              </a:ext>
            </a:extLst>
          </p:cNvPr>
          <p:cNvSpPr txBox="1">
            <a:spLocks/>
          </p:cNvSpPr>
          <p:nvPr/>
        </p:nvSpPr>
        <p:spPr>
          <a:xfrm>
            <a:off x="685800" y="869337"/>
            <a:ext cx="7772400" cy="7386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 err="1">
                <a:latin typeface="Segoe UI" panose="020B0502040204020203" pitchFamily="34" charset="0"/>
                <a:cs typeface="Segoe UI" panose="020B0502040204020203" pitchFamily="34" charset="0"/>
              </a:rPr>
              <a:t>Storytelling</a:t>
            </a:r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 Executivo: </a:t>
            </a: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Do Problema à Decisão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679F587B-A458-49EE-B0F4-BC0D89E3242F}"/>
              </a:ext>
            </a:extLst>
          </p:cNvPr>
          <p:cNvSpPr/>
          <p:nvPr/>
        </p:nvSpPr>
        <p:spPr>
          <a:xfrm>
            <a:off x="471203" y="1889350"/>
            <a:ext cx="1586753" cy="172350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94B8F7A3-BAED-44C8-80EC-2ACF2D56CEB0}"/>
              </a:ext>
            </a:extLst>
          </p:cNvPr>
          <p:cNvSpPr/>
          <p:nvPr/>
        </p:nvSpPr>
        <p:spPr>
          <a:xfrm>
            <a:off x="2122946" y="1889350"/>
            <a:ext cx="1586753" cy="172350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D230786F-AC8C-45E9-B0A9-664C7223BF89}"/>
              </a:ext>
            </a:extLst>
          </p:cNvPr>
          <p:cNvSpPr/>
          <p:nvPr/>
        </p:nvSpPr>
        <p:spPr>
          <a:xfrm>
            <a:off x="3773584" y="1889350"/>
            <a:ext cx="1586753" cy="1752600"/>
          </a:xfrm>
          <a:prstGeom prst="roundRect">
            <a:avLst/>
          </a:prstGeom>
          <a:gradFill flip="none" rotWithShape="1">
            <a:gsLst>
              <a:gs pos="0">
                <a:srgbClr val="FF9999">
                  <a:shade val="30000"/>
                  <a:satMod val="115000"/>
                </a:srgbClr>
              </a:gs>
              <a:gs pos="50000">
                <a:srgbClr val="FF9999">
                  <a:shade val="67500"/>
                  <a:satMod val="115000"/>
                </a:srgbClr>
              </a:gs>
              <a:gs pos="100000">
                <a:srgbClr val="FF9999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FF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B95FFB47-2726-4A84-9CE4-381B29C43EC5}"/>
              </a:ext>
            </a:extLst>
          </p:cNvPr>
          <p:cNvSpPr/>
          <p:nvPr/>
        </p:nvSpPr>
        <p:spPr>
          <a:xfrm>
            <a:off x="5425327" y="1889350"/>
            <a:ext cx="1586753" cy="1730190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95C3305B-B9B1-4DAC-8686-1EF7D427C9ED}"/>
              </a:ext>
            </a:extLst>
          </p:cNvPr>
          <p:cNvSpPr/>
          <p:nvPr/>
        </p:nvSpPr>
        <p:spPr>
          <a:xfrm>
            <a:off x="7084361" y="1882666"/>
            <a:ext cx="1586753" cy="173019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</a:schemeClr>
              </a:gs>
              <a:gs pos="50000">
                <a:schemeClr val="accent6">
                  <a:shade val="67500"/>
                  <a:satMod val="115000"/>
                </a:schemeClr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A5E04CF8-747D-4D38-A2A2-6DBE0DC4A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367" y="2502292"/>
            <a:ext cx="1698811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Definição do impacto financeiro do </a:t>
            </a:r>
            <a:r>
              <a:rPr kumimoji="0" lang="pt-BR" altLang="pt-BR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Churn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 o objetivo de antecipar cancelamentos para proteger a receita recorrente.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DD92CC4-5979-4E52-93E4-5AB9463BBFBB}"/>
              </a:ext>
            </a:extLst>
          </p:cNvPr>
          <p:cNvSpPr txBox="1"/>
          <p:nvPr/>
        </p:nvSpPr>
        <p:spPr>
          <a:xfrm>
            <a:off x="489128" y="1988436"/>
            <a:ext cx="1586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Desafio de Negócio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C92F5E2-D8CD-429F-911E-99977C119F9E}"/>
              </a:ext>
            </a:extLst>
          </p:cNvPr>
          <p:cNvSpPr txBox="1"/>
          <p:nvPr/>
        </p:nvSpPr>
        <p:spPr>
          <a:xfrm>
            <a:off x="2087785" y="1947118"/>
            <a:ext cx="15867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 Exploratória &amp; Pipeline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581B9CC-E1FB-43F0-92B5-0EF9430CDCA9}"/>
              </a:ext>
            </a:extLst>
          </p:cNvPr>
          <p:cNvSpPr txBox="1"/>
          <p:nvPr/>
        </p:nvSpPr>
        <p:spPr>
          <a:xfrm>
            <a:off x="3791509" y="2036240"/>
            <a:ext cx="1586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Modelagem Preditiva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5A36B82-E592-4B42-800C-DFBB5ABE4B59}"/>
              </a:ext>
            </a:extLst>
          </p:cNvPr>
          <p:cNvSpPr txBox="1"/>
          <p:nvPr/>
        </p:nvSpPr>
        <p:spPr>
          <a:xfrm>
            <a:off x="5424222" y="1979072"/>
            <a:ext cx="1586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Decisório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FA2DB89-7E40-4F99-83E7-8D35F93741FA}"/>
              </a:ext>
            </a:extLst>
          </p:cNvPr>
          <p:cNvSpPr txBox="1"/>
          <p:nvPr/>
        </p:nvSpPr>
        <p:spPr>
          <a:xfrm>
            <a:off x="7126937" y="2023680"/>
            <a:ext cx="1586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Estratégia de Retenção</a:t>
            </a:r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59120523-3D84-460E-974D-7E9D3B5AE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30" y="2683612"/>
            <a:ext cx="155817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1000" dirty="0">
                <a:solidFill>
                  <a:schemeClr val="bg1"/>
                </a:solidFill>
              </a:rPr>
              <a:t>Ingestão via SQL, tratamento em Python e descoberta dos principais ofensores.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B7BB1C91-69E2-42C3-849B-CD8801456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674" y="2544655"/>
            <a:ext cx="1698811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1000" dirty="0">
                <a:solidFill>
                  <a:schemeClr val="bg1"/>
                </a:solidFill>
              </a:rPr>
              <a:t>Desenvolvimento do algoritmo (Regressão Logística) calibrado para maximizar a detecção de clientes em risco (Recall).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58DE37AD-AA39-49D7-A6DC-34AE8AD56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351" y="2546900"/>
            <a:ext cx="1698811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Tradução do modelo técnico para uma interface no Power BI que permite segmentação rápida por nível de risco.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Rectangle 4">
            <a:extLst>
              <a:ext uri="{FF2B5EF4-FFF2-40B4-BE49-F238E27FC236}">
                <a16:creationId xmlns:a16="http://schemas.microsoft.com/office/drawing/2014/main" id="{25929464-A491-438C-BC8E-1A2FF2D9E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403" y="2559460"/>
            <a:ext cx="1698811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1000" dirty="0">
                <a:solidFill>
                  <a:schemeClr val="bg1"/>
                </a:solidFill>
              </a:rPr>
              <a:t>Plano de ação prático: como a empresa usa essa inteligência para focar esforços, reduzir </a:t>
            </a:r>
            <a:r>
              <a:rPr lang="pt-BR" sz="1000" dirty="0" err="1">
                <a:solidFill>
                  <a:schemeClr val="bg1"/>
                </a:solidFill>
              </a:rPr>
              <a:t>churn</a:t>
            </a:r>
            <a:r>
              <a:rPr lang="pt-BR" sz="1000" dirty="0">
                <a:solidFill>
                  <a:schemeClr val="bg1"/>
                </a:solidFill>
              </a:rPr>
              <a:t> e aumentar o LTV.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BB196D71-C1F8-4666-ADB4-6E578B4A3162}"/>
              </a:ext>
            </a:extLst>
          </p:cNvPr>
          <p:cNvSpPr/>
          <p:nvPr/>
        </p:nvSpPr>
        <p:spPr>
          <a:xfrm>
            <a:off x="891402" y="3824810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FE065D2B-E796-48DC-BD88-7F5382B650D1}"/>
              </a:ext>
            </a:extLst>
          </p:cNvPr>
          <p:cNvSpPr txBox="1"/>
          <p:nvPr/>
        </p:nvSpPr>
        <p:spPr>
          <a:xfrm>
            <a:off x="975827" y="3802227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pt-BR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E3F32C55-B389-4EF9-AD0D-C98C494EEA6E}"/>
              </a:ext>
            </a:extLst>
          </p:cNvPr>
          <p:cNvSpPr/>
          <p:nvPr/>
        </p:nvSpPr>
        <p:spPr>
          <a:xfrm>
            <a:off x="2561667" y="3836988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2F564D0-AA67-4F35-890F-2EDD6D7DC039}"/>
              </a:ext>
            </a:extLst>
          </p:cNvPr>
          <p:cNvSpPr txBox="1"/>
          <p:nvPr/>
        </p:nvSpPr>
        <p:spPr>
          <a:xfrm>
            <a:off x="2667831" y="3794954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pt-BR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DC4BBDA2-EE47-43BE-B340-8DBCB138082F}"/>
              </a:ext>
            </a:extLst>
          </p:cNvPr>
          <p:cNvSpPr/>
          <p:nvPr/>
        </p:nvSpPr>
        <p:spPr>
          <a:xfrm>
            <a:off x="4214341" y="3867500"/>
            <a:ext cx="699809" cy="699701"/>
          </a:xfrm>
          <a:prstGeom prst="ellipse">
            <a:avLst/>
          </a:prstGeom>
          <a:gradFill flip="none" rotWithShape="1">
            <a:gsLst>
              <a:gs pos="0">
                <a:srgbClr val="FF9999">
                  <a:shade val="30000"/>
                  <a:satMod val="115000"/>
                </a:srgbClr>
              </a:gs>
              <a:gs pos="50000">
                <a:srgbClr val="FF9999">
                  <a:shade val="67500"/>
                  <a:satMod val="115000"/>
                </a:srgbClr>
              </a:gs>
              <a:gs pos="100000">
                <a:srgbClr val="FF9999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FF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6B790C17-E57D-40D1-97E2-064CADDA6B1D}"/>
              </a:ext>
            </a:extLst>
          </p:cNvPr>
          <p:cNvSpPr txBox="1"/>
          <p:nvPr/>
        </p:nvSpPr>
        <p:spPr>
          <a:xfrm>
            <a:off x="4336824" y="3837743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FD406D27-1C26-42D5-918F-1649E00E187D}"/>
              </a:ext>
            </a:extLst>
          </p:cNvPr>
          <p:cNvSpPr/>
          <p:nvPr/>
        </p:nvSpPr>
        <p:spPr>
          <a:xfrm>
            <a:off x="5866420" y="3825432"/>
            <a:ext cx="699809" cy="699701"/>
          </a:xfrm>
          <a:prstGeom prst="ellipse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820C006E-7133-4FDD-9D53-2A4BC74A8B85}"/>
              </a:ext>
            </a:extLst>
          </p:cNvPr>
          <p:cNvSpPr txBox="1"/>
          <p:nvPr/>
        </p:nvSpPr>
        <p:spPr>
          <a:xfrm>
            <a:off x="5926302" y="3794954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9D1FE064-22A2-409D-9CC0-235B6CB12E4A}"/>
              </a:ext>
            </a:extLst>
          </p:cNvPr>
          <p:cNvSpPr/>
          <p:nvPr/>
        </p:nvSpPr>
        <p:spPr>
          <a:xfrm>
            <a:off x="7552789" y="3819720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</a:schemeClr>
              </a:gs>
              <a:gs pos="50000">
                <a:schemeClr val="accent6">
                  <a:shade val="67500"/>
                  <a:satMod val="115000"/>
                </a:schemeClr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BB3851A4-5960-49A9-A157-C09BBA208827}"/>
              </a:ext>
            </a:extLst>
          </p:cNvPr>
          <p:cNvSpPr txBox="1"/>
          <p:nvPr/>
        </p:nvSpPr>
        <p:spPr>
          <a:xfrm>
            <a:off x="7670987" y="3805945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873BA46F-CF5C-414F-9A47-E4F0BEC9E506}"/>
              </a:ext>
            </a:extLst>
          </p:cNvPr>
          <p:cNvCxnSpPr>
            <a:cxnSpLocks/>
          </p:cNvCxnSpPr>
          <p:nvPr/>
        </p:nvCxnSpPr>
        <p:spPr>
          <a:xfrm>
            <a:off x="1248139" y="3607475"/>
            <a:ext cx="1" cy="2273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0CE0F2BE-74CF-4735-B0E3-10F2827B1A1E}"/>
              </a:ext>
            </a:extLst>
          </p:cNvPr>
          <p:cNvCxnSpPr/>
          <p:nvPr/>
        </p:nvCxnSpPr>
        <p:spPr>
          <a:xfrm>
            <a:off x="2911572" y="3607475"/>
            <a:ext cx="1" cy="2273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A220A4E2-A410-414C-88E6-81468541BAD8}"/>
              </a:ext>
            </a:extLst>
          </p:cNvPr>
          <p:cNvCxnSpPr/>
          <p:nvPr/>
        </p:nvCxnSpPr>
        <p:spPr>
          <a:xfrm>
            <a:off x="4571016" y="3631724"/>
            <a:ext cx="1" cy="227315"/>
          </a:xfrm>
          <a:prstGeom prst="line">
            <a:avLst/>
          </a:prstGeom>
          <a:ln>
            <a:solidFill>
              <a:srgbClr val="FF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39DADB0D-5786-4F0B-B127-A2A3CBC7B179}"/>
              </a:ext>
            </a:extLst>
          </p:cNvPr>
          <p:cNvCxnSpPr/>
          <p:nvPr/>
        </p:nvCxnSpPr>
        <p:spPr>
          <a:xfrm>
            <a:off x="6216324" y="3612856"/>
            <a:ext cx="1" cy="2273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7377A6A8-EB89-48FD-80D4-8A31A68A559F}"/>
              </a:ext>
            </a:extLst>
          </p:cNvPr>
          <p:cNvCxnSpPr/>
          <p:nvPr/>
        </p:nvCxnSpPr>
        <p:spPr>
          <a:xfrm>
            <a:off x="7919329" y="3605931"/>
            <a:ext cx="1" cy="227315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Gráfico 73" descr="Aperto de mão com preenchimento sólido">
            <a:extLst>
              <a:ext uri="{FF2B5EF4-FFF2-40B4-BE49-F238E27FC236}">
                <a16:creationId xmlns:a16="http://schemas.microsoft.com/office/drawing/2014/main" id="{C84AA4B9-F00B-4B5A-A5EE-5CF099855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8943" y="4680411"/>
            <a:ext cx="587505" cy="587505"/>
          </a:xfrm>
          <a:prstGeom prst="rect">
            <a:avLst/>
          </a:prstGeom>
        </p:spPr>
      </p:pic>
      <p:pic>
        <p:nvPicPr>
          <p:cNvPr id="76" name="Gráfico 75" descr="Gráfico de barras com preenchimento sólido">
            <a:extLst>
              <a:ext uri="{FF2B5EF4-FFF2-40B4-BE49-F238E27FC236}">
                <a16:creationId xmlns:a16="http://schemas.microsoft.com/office/drawing/2014/main" id="{B6FA6987-731B-4283-A541-4CB976FC14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8724" y="4689376"/>
            <a:ext cx="587505" cy="587505"/>
          </a:xfrm>
          <a:prstGeom prst="rect">
            <a:avLst/>
          </a:prstGeom>
        </p:spPr>
      </p:pic>
      <p:pic>
        <p:nvPicPr>
          <p:cNvPr id="78" name="Gráfico 77" descr="Cabeça com engrenagens com preenchimento sólido">
            <a:extLst>
              <a:ext uri="{FF2B5EF4-FFF2-40B4-BE49-F238E27FC236}">
                <a16:creationId xmlns:a16="http://schemas.microsoft.com/office/drawing/2014/main" id="{85367945-F1B9-449E-8613-4500097C75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0949" y="4689245"/>
            <a:ext cx="587505" cy="587505"/>
          </a:xfrm>
          <a:prstGeom prst="rect">
            <a:avLst/>
          </a:prstGeom>
        </p:spPr>
      </p:pic>
      <p:pic>
        <p:nvPicPr>
          <p:cNvPr id="80" name="Gráfico 79" descr="Lupa com preenchimento sólido">
            <a:extLst>
              <a:ext uri="{FF2B5EF4-FFF2-40B4-BE49-F238E27FC236}">
                <a16:creationId xmlns:a16="http://schemas.microsoft.com/office/drawing/2014/main" id="{E4A85BD5-42F1-4CC9-BEEC-8F4F829C07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73971" y="4680411"/>
            <a:ext cx="587505" cy="587505"/>
          </a:xfrm>
          <a:prstGeom prst="rect">
            <a:avLst/>
          </a:prstGeom>
        </p:spPr>
      </p:pic>
      <p:pic>
        <p:nvPicPr>
          <p:cNvPr id="82" name="Gráfico 81" descr="Na mosca com preenchimento sólido">
            <a:extLst>
              <a:ext uri="{FF2B5EF4-FFF2-40B4-BE49-F238E27FC236}">
                <a16:creationId xmlns:a16="http://schemas.microsoft.com/office/drawing/2014/main" id="{58759CB9-1F8A-45E6-BE89-B8C0A1F7C2F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574" y="4689245"/>
            <a:ext cx="587505" cy="58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4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O </a:t>
            </a:r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Desafio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1722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O </a:t>
            </a:r>
            <a:r>
              <a:rPr lang="pt-BR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Churn</a:t>
            </a:r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 não é apenas uma métrica; é o maior detrator de crescimento no setor de Telecom. Atualmente, perdemos receita mais rápido do que conseguimos repor</a:t>
            </a:r>
            <a:r>
              <a:rPr sz="1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indent="0">
              <a:buNone/>
            </a:pPr>
            <a:r>
              <a:rPr lang="pt-BR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Como identificar o cliente em risco </a:t>
            </a:r>
            <a:r>
              <a:rPr lang="pt-BR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antes</a:t>
            </a:r>
            <a:r>
              <a:rPr lang="pt-BR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 que ele tome a decisão de sair?</a:t>
            </a:r>
            <a:endParaRPr sz="1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A01EC17-11EB-4763-B9BA-D1D7DEDB694E}"/>
              </a:ext>
            </a:extLst>
          </p:cNvPr>
          <p:cNvSpPr/>
          <p:nvPr/>
        </p:nvSpPr>
        <p:spPr>
          <a:xfrm>
            <a:off x="7668624" y="953257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3BAFF8E-B46A-45E8-8186-0374FD7BE26C}"/>
              </a:ext>
            </a:extLst>
          </p:cNvPr>
          <p:cNvSpPr txBox="1"/>
          <p:nvPr/>
        </p:nvSpPr>
        <p:spPr>
          <a:xfrm>
            <a:off x="7753049" y="930674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pt-BR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Impacto</a:t>
            </a:r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 no </a:t>
            </a:r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b="1" dirty="0"/>
              <a:t>CAC </a:t>
            </a:r>
            <a:r>
              <a:rPr lang="pt-BR" sz="1800" b="1" dirty="0" err="1"/>
              <a:t>vs</a:t>
            </a:r>
            <a:r>
              <a:rPr lang="pt-BR" sz="1800" b="1" dirty="0"/>
              <a:t> Retenção:</a:t>
            </a:r>
            <a:r>
              <a:rPr lang="pt-BR" sz="1800" dirty="0"/>
              <a:t> Conquistar um novo cliente custa até 5x mais do que reter o atual.</a:t>
            </a:r>
          </a:p>
          <a:p>
            <a:r>
              <a:rPr lang="pt-BR" sz="1800" b="1" dirty="0"/>
              <a:t>Perda Invisível:</a:t>
            </a:r>
            <a:r>
              <a:rPr lang="pt-BR" sz="1800" dirty="0"/>
              <a:t> Cada cancelamento não é apenas uma perda pontual, mas uma redução drástica no </a:t>
            </a:r>
            <a:r>
              <a:rPr lang="pt-BR" sz="1800" i="1" dirty="0" err="1"/>
              <a:t>Lifetime</a:t>
            </a:r>
            <a:r>
              <a:rPr lang="pt-BR" sz="1800" i="1" dirty="0"/>
              <a:t> </a:t>
            </a:r>
            <a:r>
              <a:rPr lang="pt-BR" sz="1800" i="1" dirty="0" err="1"/>
              <a:t>Value</a:t>
            </a:r>
            <a:r>
              <a:rPr lang="pt-BR" sz="1800" dirty="0"/>
              <a:t> (LTV) da carteira.</a:t>
            </a:r>
          </a:p>
          <a:p>
            <a:pPr marL="0" indent="0" algn="ctr">
              <a:buNone/>
            </a:pPr>
            <a:endParaRPr lang="pt-B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t-BR" sz="1800" dirty="0" err="1"/>
              <a:t>Churn</a:t>
            </a:r>
            <a:r>
              <a:rPr lang="pt-BR" sz="1800" dirty="0"/>
              <a:t> reduz </a:t>
            </a:r>
            <a:r>
              <a:rPr lang="pt-BR" sz="1800" b="1" dirty="0"/>
              <a:t>LTV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800" b="1" dirty="0"/>
              <a:t>CAC</a:t>
            </a:r>
            <a:r>
              <a:rPr lang="pt-BR" sz="1800" dirty="0"/>
              <a:t> é maior que custo de retenção</a:t>
            </a:r>
            <a:endParaRPr lang="pt-B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t-BR" sz="1800" dirty="0"/>
              <a:t>Antecipar </a:t>
            </a:r>
            <a:r>
              <a:rPr lang="pt-BR" sz="1800" dirty="0" err="1"/>
              <a:t>churn</a:t>
            </a:r>
            <a:r>
              <a:rPr lang="pt-BR" sz="1800" dirty="0"/>
              <a:t> significa proteger receita.</a:t>
            </a:r>
            <a:endParaRPr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924BAEF-33AA-43DB-BB43-063155DBB29E}"/>
              </a:ext>
            </a:extLst>
          </p:cNvPr>
          <p:cNvSpPr/>
          <p:nvPr/>
        </p:nvSpPr>
        <p:spPr>
          <a:xfrm>
            <a:off x="7666951" y="972965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D9C70CF-124F-44EF-93A4-5DC43EC8FAC3}"/>
              </a:ext>
            </a:extLst>
          </p:cNvPr>
          <p:cNvSpPr txBox="1"/>
          <p:nvPr/>
        </p:nvSpPr>
        <p:spPr>
          <a:xfrm>
            <a:off x="7751376" y="950382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pt-BR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A Proposta de Valor</a:t>
            </a: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1049866"/>
          </a:xfrm>
        </p:spPr>
        <p:txBody>
          <a:bodyPr>
            <a:normAutofit/>
          </a:bodyPr>
          <a:lstStyle/>
          <a:p>
            <a:r>
              <a:rPr lang="pt-BR" sz="1800" dirty="0"/>
              <a:t>Mudar a chave de </a:t>
            </a:r>
            <a:r>
              <a:rPr lang="pt-BR" sz="1800" b="1" dirty="0"/>
              <a:t>Reativo</a:t>
            </a:r>
            <a:r>
              <a:rPr lang="pt-BR" sz="1800" dirty="0"/>
              <a:t> para </a:t>
            </a:r>
            <a:r>
              <a:rPr lang="pt-BR" sz="1800" b="1" dirty="0"/>
              <a:t>Preditivo</a:t>
            </a:r>
            <a:r>
              <a:rPr lang="pt-BR" sz="1800" dirty="0"/>
              <a:t>. Utilizaremos Inteligência Artificial para identificar o risco de saída </a:t>
            </a:r>
            <a:r>
              <a:rPr lang="pt-BR" sz="1800" i="1" dirty="0"/>
              <a:t>antes</a:t>
            </a:r>
            <a:r>
              <a:rPr lang="pt-BR" sz="1800" dirty="0"/>
              <a:t> que o cliente tome a decisão.</a:t>
            </a:r>
            <a:endParaRPr lang="pt-B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540B273-A712-48C0-9540-A90700B0E1A8}"/>
              </a:ext>
            </a:extLst>
          </p:cNvPr>
          <p:cNvSpPr/>
          <p:nvPr/>
        </p:nvSpPr>
        <p:spPr>
          <a:xfrm>
            <a:off x="7621231" y="908700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35A431-B76D-47B1-B681-5B26233D5372}"/>
              </a:ext>
            </a:extLst>
          </p:cNvPr>
          <p:cNvSpPr txBox="1"/>
          <p:nvPr/>
        </p:nvSpPr>
        <p:spPr>
          <a:xfrm>
            <a:off x="7705656" y="886117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pt-BR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Pipeline de </a:t>
            </a:r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Solução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AFF384A-D036-413E-8A5A-DF98D540C33C}"/>
              </a:ext>
            </a:extLst>
          </p:cNvPr>
          <p:cNvSpPr/>
          <p:nvPr/>
        </p:nvSpPr>
        <p:spPr>
          <a:xfrm>
            <a:off x="7621231" y="941388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5441F94-D03F-47FB-9521-9014BC6C6A96}"/>
              </a:ext>
            </a:extLst>
          </p:cNvPr>
          <p:cNvSpPr txBox="1"/>
          <p:nvPr/>
        </p:nvSpPr>
        <p:spPr>
          <a:xfrm>
            <a:off x="7727395" y="899354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pt-BR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3C65584-8222-40A6-B7AB-413351C22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343" y="2439098"/>
            <a:ext cx="79799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SQL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(Extração)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→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Python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(Refinamento)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→ Feature Engineering → ML → Power BI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O Que </a:t>
            </a:r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os</a:t>
            </a:r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 Dados </a:t>
            </a:r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Mostraram</a:t>
            </a:r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/>
              <a:t>A análise exploratória revelou que contratos mensais apresentam maior instabilidade, clientes de fibra óptica tendem a cancelar mais e contratos de longo prazo reduzem significativamente a chance de </a:t>
            </a:r>
            <a:r>
              <a:rPr lang="pt-BR" sz="1800" dirty="0" err="1"/>
              <a:t>churn</a:t>
            </a:r>
            <a:r>
              <a:rPr lang="pt-BR" sz="1800" dirty="0"/>
              <a:t>.</a:t>
            </a:r>
            <a:endParaRPr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7917FDE-B42E-42E8-9B14-19BBFB7B9BE2}"/>
              </a:ext>
            </a:extLst>
          </p:cNvPr>
          <p:cNvSpPr/>
          <p:nvPr/>
        </p:nvSpPr>
        <p:spPr>
          <a:xfrm>
            <a:off x="7621231" y="914494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A6790E-C75F-4A40-A7BA-BEEECF67A516}"/>
              </a:ext>
            </a:extLst>
          </p:cNvPr>
          <p:cNvSpPr txBox="1"/>
          <p:nvPr/>
        </p:nvSpPr>
        <p:spPr>
          <a:xfrm>
            <a:off x="7727395" y="872460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pt-BR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Preparação</a:t>
            </a:r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 dos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1800" dirty="0"/>
              <a:t>Limpeza e padronização dos dados.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800" dirty="0"/>
              <a:t>Codificação de variáveis categóricas.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800" dirty="0"/>
              <a:t>Criação de variáveis para modelagem.</a:t>
            </a:r>
            <a:endParaRPr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205AD9D-2158-46FB-9F4A-6D72056938CB}"/>
              </a:ext>
            </a:extLst>
          </p:cNvPr>
          <p:cNvSpPr/>
          <p:nvPr/>
        </p:nvSpPr>
        <p:spPr>
          <a:xfrm>
            <a:off x="7621231" y="914494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2939DD6-57B6-4A4C-92FA-422A0C1FD853}"/>
              </a:ext>
            </a:extLst>
          </p:cNvPr>
          <p:cNvSpPr txBox="1"/>
          <p:nvPr/>
        </p:nvSpPr>
        <p:spPr>
          <a:xfrm>
            <a:off x="7727395" y="872460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pt-BR" sz="3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Modelagem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1583266"/>
          </a:xfrm>
        </p:spPr>
        <p:txBody>
          <a:bodyPr>
            <a:normAutofit/>
          </a:bodyPr>
          <a:lstStyle/>
          <a:p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Foram testados diferentes modelos preditivos, com foco principal na métrica Recall, garantindo que a maior parte dos clientes em risco fosse identificada. O modelo que apresentou melhor equilíbrio entre desempenho e interpretação foi a Regressão Logística.</a:t>
            </a:r>
            <a:endParaRPr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C39E2E7-23BB-4373-810F-0169A2CACCAC}"/>
              </a:ext>
            </a:extLst>
          </p:cNvPr>
          <p:cNvSpPr/>
          <p:nvPr/>
        </p:nvSpPr>
        <p:spPr>
          <a:xfrm>
            <a:off x="7621231" y="918112"/>
            <a:ext cx="699809" cy="699701"/>
          </a:xfrm>
          <a:prstGeom prst="ellipse">
            <a:avLst/>
          </a:prstGeom>
          <a:gradFill flip="none" rotWithShape="1">
            <a:gsLst>
              <a:gs pos="0">
                <a:srgbClr val="FF9999">
                  <a:shade val="30000"/>
                  <a:satMod val="115000"/>
                </a:srgbClr>
              </a:gs>
              <a:gs pos="50000">
                <a:srgbClr val="FF9999">
                  <a:shade val="67500"/>
                  <a:satMod val="115000"/>
                </a:srgbClr>
              </a:gs>
              <a:gs pos="100000">
                <a:srgbClr val="FF9999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FF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ECC3AD8-8486-48B9-A224-4C888F5E0D19}"/>
              </a:ext>
            </a:extLst>
          </p:cNvPr>
          <p:cNvSpPr txBox="1"/>
          <p:nvPr/>
        </p:nvSpPr>
        <p:spPr>
          <a:xfrm>
            <a:off x="7743714" y="888355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Resultado</a:t>
            </a:r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 do </a:t>
            </a:r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Modelo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539103"/>
              </p:ext>
            </p:extLst>
          </p:nvPr>
        </p:nvGraphicFramePr>
        <p:xfrm>
          <a:off x="1513242" y="3115236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Elipse 3">
            <a:extLst>
              <a:ext uri="{FF2B5EF4-FFF2-40B4-BE49-F238E27FC236}">
                <a16:creationId xmlns:a16="http://schemas.microsoft.com/office/drawing/2014/main" id="{82A22B36-42E9-43B7-A7DF-FB3761F958B4}"/>
              </a:ext>
            </a:extLst>
          </p:cNvPr>
          <p:cNvSpPr/>
          <p:nvPr/>
        </p:nvSpPr>
        <p:spPr>
          <a:xfrm>
            <a:off x="7621231" y="882253"/>
            <a:ext cx="699809" cy="699701"/>
          </a:xfrm>
          <a:prstGeom prst="ellipse">
            <a:avLst/>
          </a:prstGeom>
          <a:gradFill flip="none" rotWithShape="1">
            <a:gsLst>
              <a:gs pos="0">
                <a:srgbClr val="FF9999">
                  <a:shade val="30000"/>
                  <a:satMod val="115000"/>
                </a:srgbClr>
              </a:gs>
              <a:gs pos="50000">
                <a:srgbClr val="FF9999">
                  <a:shade val="67500"/>
                  <a:satMod val="115000"/>
                </a:srgbClr>
              </a:gs>
              <a:gs pos="100000">
                <a:srgbClr val="FF9999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FF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B52CBC-E724-4F38-BC14-3D43E6E1B4DA}"/>
              </a:ext>
            </a:extLst>
          </p:cNvPr>
          <p:cNvSpPr txBox="1"/>
          <p:nvPr/>
        </p:nvSpPr>
        <p:spPr>
          <a:xfrm>
            <a:off x="7743714" y="852496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19855B-8692-43E3-AD11-E55D3E079E98}"/>
              </a:ext>
            </a:extLst>
          </p:cNvPr>
          <p:cNvSpPr txBox="1">
            <a:spLocks/>
          </p:cNvSpPr>
          <p:nvPr/>
        </p:nvSpPr>
        <p:spPr>
          <a:xfrm>
            <a:off x="822959" y="1845734"/>
            <a:ext cx="7543801" cy="1583266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O modelo final alcançou alto Recall, sendo capaz de identificar a maioria dos clientes com risco de </a:t>
            </a:r>
            <a:r>
              <a:rPr lang="pt-BR" sz="1800" dirty="0" err="1"/>
              <a:t>churn</a:t>
            </a:r>
            <a:r>
              <a:rPr lang="pt-BR" sz="1800" dirty="0"/>
              <a:t>. Ele mantém boa performance ao mesmo tempo em que é simples e fácil de explicar para áreas de negócio.</a:t>
            </a:r>
            <a:endParaRPr lang="pt-B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Principais Fatores de </a:t>
            </a:r>
            <a:r>
              <a:rPr lang="pt-BR" b="1" dirty="0" err="1">
                <a:latin typeface="Segoe UI" panose="020B0502040204020203" pitchFamily="34" charset="0"/>
                <a:cs typeface="Segoe UI" panose="020B0502040204020203" pitchFamily="34" charset="0"/>
              </a:rPr>
              <a:t>Churn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F26E13C-2E5E-4ACD-A41B-1B7C440BF208}"/>
              </a:ext>
            </a:extLst>
          </p:cNvPr>
          <p:cNvSpPr/>
          <p:nvPr/>
        </p:nvSpPr>
        <p:spPr>
          <a:xfrm>
            <a:off x="7621231" y="918111"/>
            <a:ext cx="699809" cy="699701"/>
          </a:xfrm>
          <a:prstGeom prst="ellipse">
            <a:avLst/>
          </a:prstGeom>
          <a:gradFill flip="none" rotWithShape="1">
            <a:gsLst>
              <a:gs pos="0">
                <a:srgbClr val="FF9999">
                  <a:shade val="30000"/>
                  <a:satMod val="115000"/>
                </a:srgbClr>
              </a:gs>
              <a:gs pos="50000">
                <a:srgbClr val="FF9999">
                  <a:shade val="67500"/>
                  <a:satMod val="115000"/>
                </a:srgbClr>
              </a:gs>
              <a:gs pos="100000">
                <a:srgbClr val="FF9999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FF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5E3654-30EC-4309-9D69-F5361CD44D08}"/>
              </a:ext>
            </a:extLst>
          </p:cNvPr>
          <p:cNvSpPr txBox="1"/>
          <p:nvPr/>
        </p:nvSpPr>
        <p:spPr>
          <a:xfrm>
            <a:off x="7743714" y="888354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D45704-4FDB-4F3C-8E21-C38FAFFE4F53}"/>
              </a:ext>
            </a:extLst>
          </p:cNvPr>
          <p:cNvSpPr txBox="1">
            <a:spLocks/>
          </p:cNvSpPr>
          <p:nvPr/>
        </p:nvSpPr>
        <p:spPr>
          <a:xfrm>
            <a:off x="822959" y="1845734"/>
            <a:ext cx="7543801" cy="1583266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Os fatores mais influentes no </a:t>
            </a:r>
            <a:r>
              <a:rPr lang="pt-BR" sz="1800" dirty="0" err="1"/>
              <a:t>churn</a:t>
            </a:r>
            <a:r>
              <a:rPr lang="pt-BR" sz="1800" dirty="0"/>
              <a:t> foram o tipo de contrato, a forma de pagamento e os serviços contratados. Esses elementos explicam grande parte do comportamento de cancelamento dos clientes.</a:t>
            </a:r>
            <a:endParaRPr lang="pt-B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49" name="Picture 1" descr="Principais Fatores de Churn (Modelo)">
            <a:extLst>
              <a:ext uri="{FF2B5EF4-FFF2-40B4-BE49-F238E27FC236}">
                <a16:creationId xmlns:a16="http://schemas.microsoft.com/office/drawing/2014/main" id="{E48059FD-0989-4FAE-A090-8DEC28FBB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784" y="2842821"/>
            <a:ext cx="6419850" cy="3257550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Validação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023360"/>
          </a:xfrm>
        </p:spPr>
        <p:txBody>
          <a:bodyPr/>
          <a:lstStyle/>
          <a:p>
            <a:r>
              <a:rPr lang="pt-BR" sz="1800" dirty="0"/>
              <a:t>As relações identificadas foram confirmadas estatisticamente por meio de três testes fundamentais: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800" b="1" dirty="0"/>
              <a:t>Shapiro-Wilk</a:t>
            </a:r>
            <a:r>
              <a:rPr lang="pt-BR" sz="1800" dirty="0"/>
              <a:t> </a:t>
            </a:r>
            <a:r>
              <a:rPr lang="pt-BR" sz="1600" dirty="0"/>
              <a:t>para avaliar a normalidade dos dados</a:t>
            </a:r>
            <a:r>
              <a:rPr lang="pt-BR" sz="1800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800" b="1" dirty="0"/>
              <a:t>Mann-Whitney</a:t>
            </a:r>
            <a:r>
              <a:rPr lang="pt-BR" sz="1800" dirty="0"/>
              <a:t> </a:t>
            </a:r>
            <a:r>
              <a:rPr lang="pt-BR" sz="1600" dirty="0"/>
              <a:t>para comparar grupos </a:t>
            </a:r>
            <a:r>
              <a:rPr lang="pt-BR" sz="1600" b="1" dirty="0"/>
              <a:t>com</a:t>
            </a:r>
            <a:r>
              <a:rPr lang="pt-BR" sz="1600" dirty="0"/>
              <a:t> e </a:t>
            </a:r>
            <a:r>
              <a:rPr lang="pt-BR" sz="1600" b="1" dirty="0"/>
              <a:t>sem</a:t>
            </a:r>
            <a:r>
              <a:rPr lang="pt-BR" sz="1600" dirty="0"/>
              <a:t> </a:t>
            </a:r>
            <a:r>
              <a:rPr lang="pt-BR" sz="1600" dirty="0" err="1"/>
              <a:t>churn</a:t>
            </a:r>
            <a:r>
              <a:rPr lang="pt-BR" sz="1600" dirty="0"/>
              <a:t>;</a:t>
            </a:r>
            <a:endParaRPr lang="pt-BR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1800" b="1" dirty="0"/>
              <a:t>Chi-Quadrado</a:t>
            </a:r>
            <a:r>
              <a:rPr lang="pt-BR" sz="1800" dirty="0"/>
              <a:t> </a:t>
            </a:r>
            <a:r>
              <a:rPr lang="pt-BR" sz="1600" dirty="0"/>
              <a:t>para validar associações entre variáveis categóricas. </a:t>
            </a:r>
          </a:p>
          <a:p>
            <a:r>
              <a:rPr lang="pt-BR" sz="1400" i="1" dirty="0"/>
              <a:t>Os resultados mostraram que tipo de contrato e forma de pagamento impactam diretamente o </a:t>
            </a:r>
            <a:r>
              <a:rPr lang="pt-BR" sz="1400" i="1" dirty="0" err="1"/>
              <a:t>churn</a:t>
            </a:r>
            <a:r>
              <a:rPr lang="pt-BR" sz="1400" i="1" dirty="0"/>
              <a:t>, enquanto contratos mais longos reduzem de forma consistente o risco de cancelamento, garantindo maior confiança nas conclusões do projeto.</a:t>
            </a:r>
            <a:endParaRPr sz="14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5877B17-BFA1-496E-A1E2-FE49086262FC}"/>
              </a:ext>
            </a:extLst>
          </p:cNvPr>
          <p:cNvSpPr/>
          <p:nvPr/>
        </p:nvSpPr>
        <p:spPr>
          <a:xfrm>
            <a:off x="7666951" y="909147"/>
            <a:ext cx="699809" cy="699701"/>
          </a:xfrm>
          <a:prstGeom prst="ellipse">
            <a:avLst/>
          </a:prstGeom>
          <a:gradFill flip="none" rotWithShape="1">
            <a:gsLst>
              <a:gs pos="0">
                <a:srgbClr val="FF9999">
                  <a:shade val="30000"/>
                  <a:satMod val="115000"/>
                </a:srgbClr>
              </a:gs>
              <a:gs pos="50000">
                <a:srgbClr val="FF9999">
                  <a:shade val="67500"/>
                  <a:satMod val="115000"/>
                </a:srgbClr>
              </a:gs>
              <a:gs pos="100000">
                <a:srgbClr val="FF9999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FF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A3D28E-2F1C-4264-BDE9-2CE0FEE4E83E}"/>
              </a:ext>
            </a:extLst>
          </p:cNvPr>
          <p:cNvSpPr txBox="1"/>
          <p:nvPr/>
        </p:nvSpPr>
        <p:spPr>
          <a:xfrm>
            <a:off x="7789434" y="879390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Entrega no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O resultado foi traduzido em um dashboard no Power BI com métricas do modelo, visualização dos fatores de </a:t>
            </a:r>
            <a:r>
              <a:rPr lang="pt-BR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churn</a:t>
            </a:r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 e uma tabela de priorização por nível de risco, usando cores para facilitar a tomada de decisão.</a:t>
            </a:r>
            <a:endParaRPr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C2EE52D-9939-434C-B7D7-A92304CCAE7D}"/>
              </a:ext>
            </a:extLst>
          </p:cNvPr>
          <p:cNvSpPr/>
          <p:nvPr/>
        </p:nvSpPr>
        <p:spPr>
          <a:xfrm>
            <a:off x="7666951" y="966613"/>
            <a:ext cx="699809" cy="699701"/>
          </a:xfrm>
          <a:prstGeom prst="ellipse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C1D9300-CEDF-401E-9687-1DF12AB8A853}"/>
              </a:ext>
            </a:extLst>
          </p:cNvPr>
          <p:cNvSpPr txBox="1"/>
          <p:nvPr/>
        </p:nvSpPr>
        <p:spPr>
          <a:xfrm>
            <a:off x="7726833" y="936135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065981" cy="1450757"/>
          </a:xfrm>
        </p:spPr>
        <p:txBody>
          <a:bodyPr/>
          <a:lstStyle/>
          <a:p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Estratégia de Retenção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/>
              <a:t>A empresa pode priorizar clientes com risco acima de 80%, oferecer migração para contratos mais longos e agir antes que o cliente decida cancelar.</a:t>
            </a:r>
            <a:endParaRPr sz="1800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4877810-E373-49C0-8DD7-1DB4125E265F}"/>
              </a:ext>
            </a:extLst>
          </p:cNvPr>
          <p:cNvSpPr/>
          <p:nvPr/>
        </p:nvSpPr>
        <p:spPr>
          <a:xfrm>
            <a:off x="7687086" y="968031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</a:schemeClr>
              </a:gs>
              <a:gs pos="50000">
                <a:schemeClr val="accent6">
                  <a:shade val="67500"/>
                  <a:satMod val="115000"/>
                </a:schemeClr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829EE5D-0ED5-4CD3-8DC5-CD6676A1D34C}"/>
              </a:ext>
            </a:extLst>
          </p:cNvPr>
          <p:cNvSpPr txBox="1"/>
          <p:nvPr/>
        </p:nvSpPr>
        <p:spPr>
          <a:xfrm>
            <a:off x="7805284" y="954256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Impacto</a:t>
            </a:r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Esperado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Com essa abordagem, espera-se reduzir o </a:t>
            </a:r>
            <a:r>
              <a:rPr lang="pt-BR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churn</a:t>
            </a:r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, aumentar o LTV e diminuir a perda financeira associada ao cancelamento de clientes.</a:t>
            </a:r>
            <a:endParaRPr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430E638-4DB0-4685-A3D2-B93A4BA44CEA}"/>
              </a:ext>
            </a:extLst>
          </p:cNvPr>
          <p:cNvSpPr/>
          <p:nvPr/>
        </p:nvSpPr>
        <p:spPr>
          <a:xfrm>
            <a:off x="7666951" y="959067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</a:schemeClr>
              </a:gs>
              <a:gs pos="50000">
                <a:schemeClr val="accent6">
                  <a:shade val="67500"/>
                  <a:satMod val="115000"/>
                </a:schemeClr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801151-667F-46E4-81D9-B89A0EF32281}"/>
              </a:ext>
            </a:extLst>
          </p:cNvPr>
          <p:cNvSpPr txBox="1"/>
          <p:nvPr/>
        </p:nvSpPr>
        <p:spPr>
          <a:xfrm>
            <a:off x="7785149" y="945292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Conclusão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O projeto conecta dados à decisão, usando um modelo simples, interpretável e pronto para aplicação real, apoiando estratégias de retenção baseadas em dados.</a:t>
            </a:r>
            <a:endParaRPr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E5B46ED-CFD0-4A0E-9565-52C582519817}"/>
              </a:ext>
            </a:extLst>
          </p:cNvPr>
          <p:cNvSpPr/>
          <p:nvPr/>
        </p:nvSpPr>
        <p:spPr>
          <a:xfrm>
            <a:off x="7670987" y="976996"/>
            <a:ext cx="699809" cy="699701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</a:schemeClr>
              </a:gs>
              <a:gs pos="50000">
                <a:schemeClr val="accent6">
                  <a:shade val="67500"/>
                  <a:satMod val="115000"/>
                </a:schemeClr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F2F89A-8689-4928-A6CE-1E9DA7C4593D}"/>
              </a:ext>
            </a:extLst>
          </p:cNvPr>
          <p:cNvSpPr txBox="1"/>
          <p:nvPr/>
        </p:nvSpPr>
        <p:spPr>
          <a:xfrm>
            <a:off x="7789185" y="963221"/>
            <a:ext cx="51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169</TotalTime>
  <Words>691</Words>
  <Application>Microsoft Office PowerPoint</Application>
  <PresentationFormat>Apresentação na tela (4:3)</PresentationFormat>
  <Paragraphs>74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Wingdings</vt:lpstr>
      <vt:lpstr>Retrospectiva</vt:lpstr>
      <vt:lpstr>Previsão de Churn em Telecom</vt:lpstr>
      <vt:lpstr>Apresentação do PowerPoint</vt:lpstr>
      <vt:lpstr>O Desafio</vt:lpstr>
      <vt:lpstr>Impacto no Negócio</vt:lpstr>
      <vt:lpstr>A Proposta de Valor</vt:lpstr>
      <vt:lpstr>Pipeline de Solução</vt:lpstr>
      <vt:lpstr>O Que os Dados Mostraram (EDA)</vt:lpstr>
      <vt:lpstr>Preparação dos Dados</vt:lpstr>
      <vt:lpstr>Modelagem</vt:lpstr>
      <vt:lpstr>Resultado do Modelo</vt:lpstr>
      <vt:lpstr>Principais Fatores de Churn</vt:lpstr>
      <vt:lpstr>Validação</vt:lpstr>
      <vt:lpstr>Entrega no Power BI</vt:lpstr>
      <vt:lpstr>Estratégia de Retenção</vt:lpstr>
      <vt:lpstr>Impacto Esperado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de Previsão de Churn – Portfólio</dc:title>
  <dc:subject/>
  <dc:creator/>
  <cp:keywords/>
  <dc:description>generated using python-pptx</dc:description>
  <cp:lastModifiedBy>João Vitor Carapina Barbosa</cp:lastModifiedBy>
  <cp:revision>19</cp:revision>
  <dcterms:created xsi:type="dcterms:W3CDTF">2013-01-27T09:14:16Z</dcterms:created>
  <dcterms:modified xsi:type="dcterms:W3CDTF">2026-01-18T16:25:58Z</dcterms:modified>
  <cp:category/>
</cp:coreProperties>
</file>